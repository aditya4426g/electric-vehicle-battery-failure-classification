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728655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05840"/>
            <a:ext cx="9966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⚡ Electric Vehicle Battery Failure Classification</a:t>
            </a:r>
          </a:p>
          <a:p>
            <a:pPr>
              <a:spcBef>
                <a:spcPts val="800"/>
              </a:spcBef>
              <a:defRPr sz="2000" b="1">
                <a:solidFill>
                  <a:srgbClr val="0284C7"/>
                </a:solidFill>
              </a:defRPr>
            </a:pPr>
            <a:r>
              <a:t>Machine Learning Classification Project</a:t>
            </a:r>
          </a:p>
          <a:p>
            <a:pPr>
              <a:spcBef>
                <a:spcPts val="600"/>
              </a:spcBef>
              <a:defRPr sz="1500">
                <a:solidFill>
                  <a:srgbClr val="64748B"/>
                </a:solidFill>
              </a:defRPr>
            </a:pPr>
            <a:r>
              <a:t>Predictive Modeling for EV Battery Health and Failure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👨‍🎓 PRESENTED BY:</a:t>
            </a:r>
          </a:p>
          <a:p>
            <a:pPr>
              <a:spcBef>
                <a:spcPts val="300"/>
              </a:spcBef>
              <a:defRPr sz="1400" b="1">
                <a:solidFill>
                  <a:srgbClr val="1E293B"/>
                </a:solidFill>
              </a:defRPr>
            </a:pPr>
            <a:r>
              <a:t>• Aditya Sisodiya</a:t>
            </a:r>
          </a:p>
          <a:p>
            <a:pPr>
              <a:spcBef>
                <a:spcPts val="300"/>
              </a:spcBef>
              <a:defRPr sz="1400" b="1">
                <a:solidFill>
                  <a:srgbClr val="1E293B"/>
                </a:solidFill>
              </a:defRPr>
            </a:pPr>
            <a:r>
              <a:t>• Nikhil Suthar</a:t>
            </a:r>
          </a:p>
          <a:p>
            <a:pPr>
              <a:spcBef>
                <a:spcPts val="300"/>
              </a:spcBef>
              <a:defRPr sz="1400" b="1">
                <a:solidFill>
                  <a:srgbClr val="1E293B"/>
                </a:solidFill>
              </a:defRPr>
            </a:pPr>
            <a:r>
              <a:t>• Soumya Jain</a:t>
            </a:r>
          </a:p>
          <a:p>
            <a:pPr>
              <a:spcBef>
                <a:spcPts val="300"/>
              </a:spcBef>
              <a:defRPr sz="1400" b="1">
                <a:solidFill>
                  <a:srgbClr val="1E293B"/>
                </a:solidFill>
              </a:defRPr>
            </a:pPr>
            <a:r>
              <a:t>• Sumer Singh Rao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11480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🏫 COURSE / DEPARTMENT: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• Department of Computer Science &amp; Engineering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• Machine Learning &amp; Predictive Analytics Project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• Academic Year: 2025 – 2026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• Status: Verified &amp; Deployed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9144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MACHINE LEARNING CLASSIFICATION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Introduction &amp; 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🚗 Rapid Growth of Electric Vehicles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Global EV adoption is expanding rapidly, making battery pack health, safety, and longevity critical engineering challenges.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⚡ Importance of Battery Health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Lithium-ion batteries degrade over time due to thermal stress, charge cycling, and cell voltage imbalances.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⚠️ Risks of Battery Failure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Undetected battery failures lead to severe financial costs, unexpected road breakdowns, and thermal runaway hazards.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🤖 Machine Learning Opportunity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ML algorithms analyze complex non-linear telemetry patterns to identify early failure signals before hardware breakdown.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9144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MACHINE LEARNING CLASSIFICATION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284C7"/>
                </a:solidFill>
              </a:defRPr>
            </a:pPr>
            <a:r>
              <a:t>1. Understand &amp; Prepare Dataset: </a:t>
            </a:r>
            <a:r>
              <a:rPr sz="1400" b="0">
                <a:solidFill>
                  <a:srgbClr val="1E293B"/>
                </a:solidFill>
              </a:rPr>
              <a:t>Clean, impute, and preprocess 4,000 real-world EV battery telemetry records.</a:t>
            </a:r>
          </a:p>
          <a:p>
            <a:pPr>
              <a:spcBef>
                <a:spcPts val="1000"/>
              </a:spcBef>
              <a:defRPr sz="1500" b="1">
                <a:solidFill>
                  <a:srgbClr val="0284C7"/>
                </a:solidFill>
              </a:defRPr>
            </a:pPr>
            <a:r>
              <a:t>2. Perform Exploratory Data Analysis: </a:t>
            </a:r>
            <a:r>
              <a:rPr sz="1400" b="0">
                <a:solidFill>
                  <a:srgbClr val="1E293B"/>
                </a:solidFill>
              </a:rPr>
              <a:t>Uncover physical failure signals, target balance, and feature correlations.</a:t>
            </a:r>
          </a:p>
          <a:p>
            <a:pPr>
              <a:spcBef>
                <a:spcPts val="1000"/>
              </a:spcBef>
              <a:defRPr sz="1500" b="1">
                <a:solidFill>
                  <a:srgbClr val="0284C7"/>
                </a:solidFill>
              </a:defRPr>
            </a:pPr>
            <a:r>
              <a:t>3. Feature Selection &amp; Leakage Prevention: </a:t>
            </a:r>
            <a:r>
              <a:rPr sz="1400" b="0">
                <a:solidFill>
                  <a:srgbClr val="1E293B"/>
                </a:solidFill>
              </a:rPr>
              <a:t>Exclude redundant and uninformative attributes based strictly on training set statistics.</a:t>
            </a:r>
          </a:p>
          <a:p>
            <a:pPr>
              <a:spcBef>
                <a:spcPts val="1000"/>
              </a:spcBef>
              <a:defRPr sz="1500" b="1">
                <a:solidFill>
                  <a:srgbClr val="0284C7"/>
                </a:solidFill>
              </a:defRPr>
            </a:pPr>
            <a:r>
              <a:t>4. Train &amp; Benchmark Classifiers: </a:t>
            </a:r>
            <a:r>
              <a:rPr sz="1400" b="0">
                <a:solidFill>
                  <a:srgbClr val="1E293B"/>
                </a:solidFill>
              </a:rPr>
              <a:t>Evaluate 6 classification algorithms (Logistic Regression, KNN, Decision Tree, Random Forest, SVM, Gradient Boosting).</a:t>
            </a:r>
          </a:p>
          <a:p>
            <a:pPr>
              <a:spcBef>
                <a:spcPts val="1000"/>
              </a:spcBef>
              <a:defRPr sz="1500" b="1">
                <a:solidFill>
                  <a:srgbClr val="0284C7"/>
                </a:solidFill>
              </a:defRPr>
            </a:pPr>
            <a:r>
              <a:t>5. Hyperparameter Optimization &amp; Selection: </a:t>
            </a:r>
            <a:r>
              <a:rPr sz="1400" b="0">
                <a:solidFill>
                  <a:srgbClr val="1E293B"/>
                </a:solidFill>
              </a:rPr>
              <a:t>Tune models via 5-Fold Cross-Validation (GridSearchCV) and select best classifier based on Test F1 Score.</a:t>
            </a:r>
          </a:p>
          <a:p>
            <a:pPr>
              <a:spcBef>
                <a:spcPts val="1000"/>
              </a:spcBef>
              <a:defRPr sz="1500" b="1">
                <a:solidFill>
                  <a:srgbClr val="0284C7"/>
                </a:solidFill>
              </a:defRPr>
            </a:pPr>
            <a:r>
              <a:t>6. Deploy Predictive Pipeline: </a:t>
            </a:r>
            <a:r>
              <a:rPr sz="1400" b="0">
                <a:solidFill>
                  <a:srgbClr val="1E293B"/>
                </a:solidFill>
              </a:rPr>
              <a:t>Package pipeline into a single `.pkl` artifact and deploy an interactive Streamlit web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9144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MACHINE LEARNING CLASSIFICATION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 &amp; 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🎯 Core Objective Statement: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"The objective is to predict whether an EV battery is Healthy (0) or Failed/Failing (1) using vehicle characteristics, battery specifications, and operational physical telemetry measurements."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✅ Class 0: Healthy Battery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Normal cell voltage std dev</a:t>
            </a:r>
            <a:br/>
            <a:r>
              <a:t>• Low internal electrical resistance</a:t>
            </a:r>
            <a:br/>
            <a:r>
              <a:t>• Minimal capacity degradation</a:t>
            </a:r>
            <a:br/>
            <a:r>
              <a:t>• Safe thermal runaway risk index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49039"/>
            <a:ext cx="5212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931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⚠️ Class 1: Failed / Failing Battery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High cell voltage imbalance (cell_voltage_std)</a:t>
            </a:r>
            <a:br/>
            <a:r>
              <a:t>• Elevated internal resistance (mΩ)</a:t>
            </a:r>
            <a:br/>
            <a:r>
              <a:t>• High battery stress index &amp; capacity loss</a:t>
            </a:r>
            <a:br/>
            <a:r>
              <a:t>• High thermal runaway risk index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9144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MACHINE LEARNING CLASSIFICATION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Dataset Structure &amp; Data Hygiene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Total Records</a:t>
            </a:r>
          </a:p>
          <a:p>
            <a:pPr algn="ctr">
              <a:spcBef>
                <a:spcPts val="200"/>
              </a:spcBef>
              <a:defRPr sz="2400" b="1">
                <a:solidFill>
                  <a:srgbClr val="0F172A"/>
                </a:solidFill>
              </a:defRPr>
            </a:pPr>
            <a:r>
              <a:t>4,000</a:t>
            </a:r>
          </a:p>
          <a:p>
            <a:pPr algn="ctr">
              <a:defRPr sz="1000">
                <a:solidFill>
                  <a:srgbClr val="1E293B"/>
                </a:solidFill>
              </a:defRPr>
            </a:pPr>
            <a:r>
              <a:t>Vehicle Telemetry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Total Features</a:t>
            </a:r>
          </a:p>
          <a:p>
            <a:pPr algn="ctr">
              <a:spcBef>
                <a:spcPts val="200"/>
              </a:spcBef>
              <a:defRPr sz="2400" b="1">
                <a:solidFill>
                  <a:srgbClr val="0284C7"/>
                </a:solidFill>
              </a:defRPr>
            </a:pPr>
            <a:r>
              <a:t>17</a:t>
            </a:r>
          </a:p>
          <a:p>
            <a:pPr algn="ctr">
              <a:defRPr sz="1000">
                <a:solidFill>
                  <a:srgbClr val="1E293B"/>
                </a:solidFill>
              </a:defRPr>
            </a:pPr>
            <a:r>
              <a:t>16 Predictors + 1 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3736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Target Balance</a:t>
            </a:r>
          </a:p>
          <a:p>
            <a:pPr algn="ctr">
              <a:spcBef>
                <a:spcPts val="200"/>
              </a:spcBef>
              <a:defRPr sz="2400" b="1">
                <a:solidFill>
                  <a:srgbClr val="10B981"/>
                </a:solidFill>
              </a:defRPr>
            </a:pPr>
            <a:r>
              <a:t>50% / 50%</a:t>
            </a:r>
          </a:p>
          <a:p>
            <a:pPr algn="ctr">
              <a:defRPr sz="1000">
                <a:solidFill>
                  <a:srgbClr val="1E293B"/>
                </a:solidFill>
              </a:defRPr>
            </a:pPr>
            <a:r>
              <a:t>2,000 Healthy / 2,000 Failed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73736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Data Quality</a:t>
            </a:r>
          </a:p>
          <a:p>
            <a:pPr algn="ctr">
              <a:spcBef>
                <a:spcPts val="200"/>
              </a:spcBef>
              <a:defRPr sz="2400" b="1">
                <a:solidFill>
                  <a:srgbClr val="64748B"/>
                </a:solidFill>
              </a:defRPr>
            </a:pPr>
            <a:r>
              <a:t>3–5%</a:t>
            </a:r>
          </a:p>
          <a:p>
            <a:pPr algn="ctr">
              <a:defRPr sz="1000">
                <a:solidFill>
                  <a:srgbClr val="1E293B"/>
                </a:solidFill>
              </a:defRPr>
            </a:pPr>
            <a:r>
              <a:t>Missing Values (Imputed)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83280"/>
            <a:ext cx="10728655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56616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284C7"/>
                </a:solidFill>
              </a:defRPr>
            </a:pPr>
            <a:r>
              <a:t>📋 Data Hygiene &amp; Characteristics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Perfect Class Balance: Exactly 2,000 Healthy (0) and 2,000 Failed (1) records — no synthetic oversampling (SMOTE) required.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Zero Duplicate Rows: Verified 0 duplicate instances in raw telemetry dataset.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Target Completeness: Target column `battery_failure` has 0 missing values.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Controlled Missingness: 3–5% missing values present across numerical and categorical predictor columns.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9144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MACHINE LEARNING CLASSIFICATION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End-to-End Machine Learning Pipeline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➜ 1. Load Dataset (4,000 Records, 17 Columns)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➜ 2. Exploratory Data Analysis &amp; Feature Distribution Analysis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➜ 3. Stratified 80/20 Train-Test Split (3,200 Train / 800 Test)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➜ 4. Handle Missing Values (Numerical Median / Categorical Mode from Train Set)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➜ 5. Feature Selection (Exclude Multicollinear &amp; Low-Signal Attributes)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➜ 6. One-Hot Encoding &amp; StandardScaler Transformation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➜ 7. Train 6 Classification Algorithms (Baseline Benchmarking)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➜ 8. Hyperparameter Optimization via 5-Fold GridSearchCV (F1-Scoring)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➜ 9. Evaluate Final Models on Held-Out Test Set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➜ 10. Select Best Model based on Highest Test F1 Score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➜ 11. Save Unified `best_ev_battery_model.pkl` Bundle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➜ 12. Deploy Interactive Streamlit Web Application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9144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MACHINE LEARNING CLASSIFICATION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Data Preprocessing &amp; Data Leakage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284C7"/>
                </a:solidFill>
              </a:defRPr>
            </a:pPr>
            <a:r>
              <a:t>🔢 Numerical Feature Preprocessing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Median Imputation: Missing numerical values filled using the median calculated strictly from the training split.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StandardScaler Transformation: Features standardized to zero mean and unit variance (Z-score scaling).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Prevents Scaling Bias: Ensures distance-based algorithms (KNN, SVM, Logistic Regression) converge accurately.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🏷️ Categorical Preprocessing &amp; Leakage Rule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Mode Imputation: Missing categorical values filled using the most frequent category (mode) from training data.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One-Hot Encoding: Categoricals transformed into dummy binary indicators (`drop_first=True`).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🛡️ Strict Leakage Prevention Rule: All imputers, encoders, and scalers are fitted ONLY on X_train. X_test is transformed using training statistics.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9144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MACHINE LEARNING CLASSIFICATION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Feature Selection &amp; EDA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F4444"/>
                </a:solidFill>
              </a:defRPr>
            </a:pPr>
            <a:r>
              <a:t>❌ Excluded Features (4 Columns)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manufacturing_year: Duplicates information captured by vehicle_age_years (Correlation r = -1.0).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daily_distance: Multicollinear with odometer_km (Correlation r = 0.88).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drive_type: Identical failure rates across FWD, RWD, and AWD (Low predictive signal).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depth_of_discharge: Virtually zero variance between healthy and failed battery classes.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✅ Retained Predictors (12 Features)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9 Numerical Features:</a:t>
            </a:r>
            <a:br/>
            <a:r>
              <a:t>  capacity_loss_percent, cell_voltage_std, odometer_km, thermal_runaway_risk, cycle_count, internal_resistance, vehicle_age_years, battery_stress_index, battery_capacity_kwh.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3 Categorical Features:</a:t>
            </a:r>
            <a:br/>
            <a:r>
              <a:t>  battery_chemistry, vehicle_brand, vehicle_type.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9144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MACHINE LEARNING CLASSIFICATION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Machine Learning Algorithms Evaluated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0540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1. Logistic Regression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Linear probabilistic classifier mapping features to failure log-odds via sigmoid function.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783080"/>
            <a:ext cx="30540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K-Nearest Neighbors (KNN)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Instance-based non-parametric classifier scoring majority vote among k-nearest neighbors.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1783080"/>
            <a:ext cx="30540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3. Decision Tree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Tree-structured classifier splitting nodes based on Gini impurity / Information Gain.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60520"/>
            <a:ext cx="30540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4. Random Forest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Ensemble of decorrelated decision trees using bagging &amp; random feature subsets.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402336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6" y="4160520"/>
            <a:ext cx="30540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5. Support Vector Machine (SVM)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Finds maximum-margin hyperplane separating healthy vs failed batteries in feature space.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402336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4160520"/>
            <a:ext cx="30540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6. Gradient Boosting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Sequential boosting ensemble building shallow trees to minimize residual classification error.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9144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MACHINE LEARNING CLASSIFICATION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Evaluation Metrics &amp; Safety Rationale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 b="1">
                <a:solidFill>
                  <a:srgbClr val="0284C7"/>
                </a:solidFill>
              </a:defRPr>
            </a:pPr>
            <a:r>
              <a:t>• Accuracy: </a:t>
            </a:r>
            <a:r>
              <a:rPr sz="1300" b="0">
                <a:solidFill>
                  <a:srgbClr val="1E293B"/>
                </a:solidFill>
              </a:rPr>
              <a:t>Ratio of correct predictions to total predictions.</a:t>
            </a:r>
          </a:p>
          <a:p>
            <a:pPr>
              <a:spcBef>
                <a:spcPts val="600"/>
              </a:spcBef>
              <a:defRPr sz="1400" b="1">
                <a:solidFill>
                  <a:srgbClr val="0284C7"/>
                </a:solidFill>
              </a:defRPr>
            </a:pPr>
            <a:r>
              <a:t>• Precision: </a:t>
            </a:r>
            <a:r>
              <a:rPr sz="1300" b="0">
                <a:solidFill>
                  <a:srgbClr val="1E293B"/>
                </a:solidFill>
              </a:rPr>
              <a:t>Proportion of predicted failures that actually failed (TP / (TP + FP)).</a:t>
            </a:r>
          </a:p>
          <a:p>
            <a:pPr>
              <a:spcBef>
                <a:spcPts val="600"/>
              </a:spcBef>
              <a:defRPr sz="1400" b="1">
                <a:solidFill>
                  <a:srgbClr val="0284C7"/>
                </a:solidFill>
              </a:defRPr>
            </a:pPr>
            <a:r>
              <a:t>• Recall (Sensitivity): </a:t>
            </a:r>
            <a:r>
              <a:rPr sz="1300" b="0">
                <a:solidFill>
                  <a:srgbClr val="1E293B"/>
                </a:solidFill>
              </a:rPr>
              <a:t>Proportion of actual failures correctly identified by model (TP / (TP + FN)).</a:t>
            </a:r>
          </a:p>
          <a:p>
            <a:pPr>
              <a:spcBef>
                <a:spcPts val="600"/>
              </a:spcBef>
              <a:defRPr sz="1400" b="1">
                <a:solidFill>
                  <a:srgbClr val="0284C7"/>
                </a:solidFill>
              </a:defRPr>
            </a:pPr>
            <a:r>
              <a:t>• F1 Score: </a:t>
            </a:r>
            <a:r>
              <a:rPr sz="1300" b="0">
                <a:solidFill>
                  <a:srgbClr val="1E293B"/>
                </a:solidFill>
              </a:rPr>
              <a:t>Harmonic mean of Precision and Recall — Primary Selection Metric.</a:t>
            </a:r>
          </a:p>
          <a:p>
            <a:pPr>
              <a:spcBef>
                <a:spcPts val="600"/>
              </a:spcBef>
              <a:defRPr sz="1400" b="1">
                <a:solidFill>
                  <a:srgbClr val="0284C7"/>
                </a:solidFill>
              </a:defRPr>
            </a:pPr>
            <a:r>
              <a:t>• ROC-AUC: </a:t>
            </a:r>
            <a:r>
              <a:rPr sz="1300" b="0">
                <a:solidFill>
                  <a:srgbClr val="1E293B"/>
                </a:solidFill>
              </a:rPr>
              <a:t>Area Under Receiver Operating Characteristic Curve measuring class separation capacity.</a:t>
            </a:r>
          </a:p>
          <a:p>
            <a:br/>
            <a:pPr>
              <a:spcBef>
                <a:spcPts val="1000"/>
              </a:spcBef>
              <a:defRPr sz="1400" b="1">
                <a:solidFill>
                  <a:srgbClr val="EF4444"/>
                </a:solidFill>
              </a:defRPr>
            </a:pPr>
            <a:r>
              <a:t>⚠️ Safety Critical Rationale for Recall vs F1 Score Selection: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"In battery failure prediction, Recall is critical because a False Negative means predicting a battery is Healthy when it is actually Failing — risking safety hazard. Final model selection is based on highest Test F1 Score to balance detection recall with precision."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9144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MACHINE LEARNING CLASSIFICATION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Hyperparameter Optimization (GridSearchCV)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⚙️ Hyperparameter Tuning Setup: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• Method: Exhaustive search via GridSearchCV</a:t>
            </a:r>
            <a:br/>
            <a:r>
              <a:t>• Validation: 5-Fold Stratified Cross-Validation</a:t>
            </a:r>
            <a:br/>
            <a:r>
              <a:t>• Optimization Scoring Metric: F1 Score (`scoring='f1'`)</a:t>
            </a:r>
          </a:p>
          <a:p>
            <a:br/>
            <a:pPr>
              <a:spcBef>
                <a:spcPts val="800"/>
              </a:spcBef>
              <a:defRPr sz="1500" b="1">
                <a:solidFill>
                  <a:srgbClr val="10B981"/>
                </a:solidFill>
              </a:defRPr>
            </a:pPr>
            <a:r>
              <a:t>📋 Best Hyperparameters Obtained from GridSearchCV: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Logistic Regression (Best): C = 0.01, penalty = 'l2', solver = 'lbfgs', max_iter = 1000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Support Vector Machine (SVM): C = 1.0, kernel = 'rbf', gamma = 'scale', probability = True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Gradient Boosting: n_estimators = 100, learning_rate = 0.1, max_depth = 3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Random Forest: n_estimators = 100, max_depth = 10, random_state = 42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K-Nearest Neighbors (KNN): n_neighbors = 15, weights = 'uniform', metric = 'minkowski'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Decision Tree: max_depth = 5, criterion = 'gini', min_samples_split =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9144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MACHINE LEARNING CLASSIFICATION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Final Model Selection &amp; Test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🏆 Selected Final Model: Tuned Logistic Regression (C=0.01)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Selection Criterion: Automatically selected from comparison table based on Highest Test F1 Score (0.9208).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24688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Test Accuracy</a:t>
            </a:r>
          </a:p>
          <a:p>
            <a:pPr algn="ctr">
              <a:spcBef>
                <a:spcPts val="600"/>
              </a:spcBef>
              <a:defRPr sz="2800" b="1">
                <a:solidFill>
                  <a:srgbClr val="0284C7"/>
                </a:solidFill>
              </a:defRPr>
            </a:pPr>
            <a:r>
              <a:t>92.00%</a:t>
            </a:r>
          </a:p>
          <a:p>
            <a:pPr algn="ctr"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736 / 800 Correct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3566160"/>
            <a:ext cx="24688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3749039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Test Precision</a:t>
            </a:r>
          </a:p>
          <a:p>
            <a:pPr algn="ctr">
              <a:spcBef>
                <a:spcPts val="600"/>
              </a:spcBef>
              <a:defRPr sz="2800" b="1">
                <a:solidFill>
                  <a:srgbClr val="0F172A"/>
                </a:solidFill>
              </a:defRPr>
            </a:pPr>
            <a:r>
              <a:t>91.18%</a:t>
            </a:r>
          </a:p>
          <a:p>
            <a:pPr algn="ctr"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Precision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24688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749039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Test Recall</a:t>
            </a:r>
          </a:p>
          <a:p>
            <a:pPr algn="ctr">
              <a:spcBef>
                <a:spcPts val="600"/>
              </a:spcBef>
              <a:defRPr sz="2800" b="1">
                <a:solidFill>
                  <a:srgbClr val="10B981"/>
                </a:solidFill>
              </a:defRPr>
            </a:pPr>
            <a:r>
              <a:t>93.00%</a:t>
            </a:r>
          </a:p>
          <a:p>
            <a:pPr algn="ctr"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372 / 400 Failures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3566160"/>
            <a:ext cx="24688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3749039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Test ROC-AUC</a:t>
            </a:r>
          </a:p>
          <a:p>
            <a:pPr algn="ctr">
              <a:spcBef>
                <a:spcPts val="600"/>
              </a:spcBef>
              <a:defRPr sz="2800" b="1">
                <a:solidFill>
                  <a:srgbClr val="64748B"/>
                </a:solidFill>
              </a:defRPr>
            </a:pPr>
            <a:r>
              <a:t>0.9789</a:t>
            </a:r>
          </a:p>
          <a:p>
            <a:pPr algn="ctr"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Discriminative Score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9144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MACHINE LEARNING CLASSIFICATION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Final Confusion Matrix &amp; ROC Curves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🎯 Confusion Matrix Breakdown (Test N=800)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True Healthy (TN = 364): Correctly identified healthy packs.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False Failed (FP = 36): Healthy packs misclassified as failing.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False Healthy (FN = 28): Failing packs misclassified as healthy (False Negative Risk).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True Failed (TP = 372): Correctly identified failing battery packs.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📈 ROC-AUC Curve Evaluation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Logistic Regression AUC = 0.9789 (Highest Class Separation).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SVM AUC = 0.9783.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Gradient Boosting AUC = 0.9768.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Random Forest AUC = 0.9745.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High AUC proves near-perfect separation capability across varying classification thresholds.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9144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MACHINE LEARNING CLASSIFICATION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Model Artifact Saving &amp; Deployment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📦 Saved Artifact Bundle: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• `best_ev_battery_model.pkl`: Single unified pickle file containing model weights, scaler parameters, numerical features, categorical features, and training column structure.</a:t>
            </a:r>
          </a:p>
          <a:p>
            <a:br/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🔄 Deployment Flowchart: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➜ Model Training ➔ Save best_ev_battery_model.pkl ➔ Streamlit Web App Boot ➔ User Telemetry Inputs ➔ Unpack Scaler &amp; Align Columns ➔ Real-Time Risk Score ➔ Healthy / Failed Output</a:t>
            </a:r>
          </a:p>
          <a:p>
            <a:br/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📌 Note: Presented as an academic predictive-maintenance demonstration, not as a guaranteed hardware diagnostic tool.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9144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MACHINE LEARNING CLASSIFICATION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Limitations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F4444"/>
                </a:solidFill>
              </a:defRPr>
            </a:pPr>
            <a:r>
              <a:t>⚠️ Project Limitations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Dataset constraint: Limited to 4,000 telemetry records.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Specific operational conditions: Model reflects distribution in subset dataset.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Synthetic offline telemetry: Lacks dynamic real-time CAN bus streaming.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Diagnostic boundary: Serves as a predictive risk indicator rather than a certified hardware diagnostic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284C7"/>
                </a:solidFill>
              </a:defRPr>
            </a:pPr>
            <a:r>
              <a:t>🚀 Future Roadmap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Larger real-world datasets with millions of vehicle operational hours.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Real-time IoT telemetry streaming via MQTT / Kafka protocols.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Deep Learning LSTM / Transformer models for Remaining Useful Life (RUL) curve forecasting.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Explainable AI (SHAP / LIME) integration for cell-level degradation transparency.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Direct integration with commercial EV fleet management platforms.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9144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MACHINE LEARNING CLASSIFICATION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Conclusion &amp; Project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🎉 Key Project Achievements: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Binary Classification Formulation: Formulated EV battery failure prediction as a supervised binary classification problem.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Data Hygiene &amp; Selection: Handled 4,000 balanced records, imputed missing values using training statistics, and eliminated redundant features.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Algorithm Benchmarking: Trained and evaluated 6 machine learning models using 5-fold cross-validation.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Model Optimization: Selected Tuned Logistic Regression achieving 92.00% Accuracy, 93.00% Failure Recall, and 0.9789 ROC-AUC.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Deployment &amp; Production: Packaged model into a single `.pkl` bundle and launched live Streamlit web application.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Practical Value: Demonstrates how machine learning enhances EV safety, reduces maintenance costs, and prevents thermal runaway events.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